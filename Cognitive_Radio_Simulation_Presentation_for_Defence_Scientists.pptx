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09760" y="320040"/>
            <a:ext cx="22860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age_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438912"/>
            <a:ext cx="1084072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COGNITIVE RADIO CHANNEL SELECTION
UNDER HOSTILE JAMMING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Software Demonstration for Senior Defence Scientists
Sense · Decide · Act — Interference Capture · Hybrid ML Safety · Cognitive Adaptive Frequency Hopping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553459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dirty="0" err="1">
                <a:solidFill>
                  <a:srgbClr val="94A3B8"/>
                </a:solidFill>
                <a:latin typeface="Calibri"/>
              </a:rPr>
              <a:t>eAge</a:t>
            </a:r>
            <a:r>
              <a:rPr sz="1300" b="0" dirty="0">
                <a:solidFill>
                  <a:srgbClr val="94A3B8"/>
                </a:solidFill>
                <a:latin typeface="Calibri"/>
              </a:rPr>
              <a:t> Innovations  |  </a:t>
            </a:r>
            <a:r>
              <a:rPr sz="1300" b="0" dirty="0" err="1">
                <a:solidFill>
                  <a:srgbClr val="94A3B8"/>
                </a:solidFill>
                <a:latin typeface="Calibri"/>
              </a:rPr>
              <a:t>Defence</a:t>
            </a:r>
            <a:r>
              <a:rPr sz="1300" b="0" dirty="0">
                <a:solidFill>
                  <a:srgbClr val="94A3B8"/>
                </a:solidFill>
                <a:latin typeface="Calibri"/>
              </a:rPr>
              <a:t> SDR &amp; Electronic Warfare Lab  |  September 2026
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A5B"/>
                </a:solidFill>
                <a:latin typeface="Calibri"/>
              </a:rPr>
              <a:t>1. Presentation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1.1  Objective for this demonstration</a:t>
            </a: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1.2  Closed-loop system architecture (block diagram)</a:t>
            </a: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1.3  Live modular UI — Jammer, Receiver, Transmitter + ML</a:t>
            </a: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1.4  How interference is captured (ES sensing)</a:t>
            </a: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1.5  Hybrid ML decision with deterministic safety gate</a:t>
            </a: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1.6  Dynamic frequency hopping based on cognitive decisions</a:t>
            </a: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1E293B"/>
                </a:solidFill>
                <a:latin typeface="Calibri"/>
              </a:rPr>
              <a:t>1.7  Recommended live demo sequence and 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eAge Innovations  |  Cognitive Radio Simulation  |  Defence Scientific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A5B"/>
                </a:solidFill>
                <a:latin typeface="Calibri"/>
              </a:rPr>
              <a:t>2. What This Demonstration Proves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E293B"/>
                </a:solidFill>
                <a:latin typeface="Calibri"/>
              </a:rPr>
              <a:t>2.1  Present the modular look-and-feel of the Cognitive Radio closed loop.</a:t>
            </a:r>
          </a:p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E293B"/>
                </a:solidFill>
                <a:latin typeface="Calibri"/>
              </a:rPr>
              <a:t>2.2  Show capturing interference through Electronic Support (ES) sensing and FREE / DEGRADED / BLOCKED classification.</a:t>
            </a:r>
          </a:p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E293B"/>
                </a:solidFill>
                <a:latin typeface="Calibri"/>
              </a:rPr>
              <a:t>2.3  Show cognitive decisions using RULES / ML / HYBRID, with HYBRID preferred for mission assurance.</a:t>
            </a:r>
          </a:p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E293B"/>
                </a:solidFill>
                <a:latin typeface="Calibri"/>
              </a:rPr>
              <a:t>2.4  Show dynamic frequency hopping that updates the hop pool from live cognitive decisions.</a:t>
            </a:r>
          </a:p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E293B"/>
                </a:solidFill>
                <a:latin typeface="Calibri"/>
              </a:rPr>
              <a:t>2.5  Keep every claim tied to observable screen evidence and an explainability trace.</a:t>
            </a:r>
          </a:p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E293B"/>
                </a:solidFill>
                <a:latin typeface="Calibri"/>
              </a:rPr>
              <a:t>2.6  Position this as a software decision twin ready for later </a:t>
            </a:r>
            <a:r>
              <a:rPr sz="1700" b="0" dirty="0" err="1">
                <a:solidFill>
                  <a:srgbClr val="1E293B"/>
                </a:solidFill>
                <a:latin typeface="Calibri"/>
              </a:rPr>
              <a:t>eADM</a:t>
            </a:r>
            <a:r>
              <a:rPr sz="1700" b="0" dirty="0">
                <a:solidFill>
                  <a:srgbClr val="1E293B"/>
                </a:solidFill>
                <a:latin typeface="Calibri"/>
              </a:rPr>
              <a:t> / SDR integration.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eAge Innovations  |  Cognitive Radio Simulation  |  Defence Scientific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2A5B"/>
                </a:solidFill>
                <a:latin typeface="Calibri"/>
              </a:rPr>
              <a:t>3. Closed-Loop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Figure 1 — Sense–Decide–Act under Electronic Attack</a:t>
            </a:r>
          </a:p>
        </p:txBody>
      </p:sp>
      <p:pic>
        <p:nvPicPr>
          <p:cNvPr id="5" name="Picture 4" descr="system_architecture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11521440" cy="64765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eAge Innovations  |  Cognitive Radio Simulation  |  Defence Scientific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A5B"/>
                </a:solidFill>
                <a:latin typeface="Calibri"/>
              </a:rPr>
              <a:t>4. Architecture — Numbered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E293B"/>
                </a:solidFill>
                <a:latin typeface="Calibri"/>
              </a:rPr>
              <a:t>4.1  Jammer (Red): adversary ECM — Spot, Multi-Spot, Sweep, Barrage.</a:t>
            </a:r>
          </a:p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E293B"/>
                </a:solidFill>
                <a:latin typeface="Calibri"/>
              </a:rPr>
              <a:t>4.2  Contested RF Medium: friendly signal + jammer power + noise/fading.</a:t>
            </a:r>
          </a:p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E293B"/>
                </a:solidFill>
                <a:latin typeface="Calibri"/>
              </a:rPr>
              <a:t>4.3  Receiver / ES Node (Blue): measures SINR and packages </a:t>
            </a:r>
            <a:r>
              <a:rPr sz="1700" b="0" dirty="0" err="1">
                <a:solidFill>
                  <a:srgbClr val="1E293B"/>
                </a:solidFill>
                <a:latin typeface="Calibri"/>
              </a:rPr>
              <a:t>CRRequest</a:t>
            </a:r>
            <a:r>
              <a:rPr sz="1700" b="0" dirty="0">
                <a:solidFill>
                  <a:srgbClr val="1E293B"/>
                </a:solidFill>
                <a:latin typeface="Calibri"/>
              </a:rPr>
              <a:t> telemetry.</a:t>
            </a:r>
          </a:p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E293B"/>
                </a:solidFill>
                <a:latin typeface="Calibri"/>
              </a:rPr>
              <a:t>4.4  Cognitive Decision Engine &amp; ML (Slate): 64×32 MLP proposal + Hybrid Safety Gate + adaptive hop synthesis.</a:t>
            </a:r>
          </a:p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E293B"/>
                </a:solidFill>
                <a:latin typeface="Calibri"/>
              </a:rPr>
              <a:t>4.5  Transmitter / ECCM Actuator (Green): retunes carrier, regulates power, executes hop pool.</a:t>
            </a:r>
          </a:p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E293B"/>
                </a:solidFill>
                <a:latin typeface="Calibri"/>
              </a:rPr>
              <a:t>4.6  Closed loop: radiated friendly carrier returns to the contested medium.</a:t>
            </a:r>
          </a:p>
          <a:p>
            <a:pPr>
              <a:spcAft>
                <a:spcPts val="1000"/>
              </a:spcAft>
            </a:pPr>
            <a:r>
              <a:rPr sz="1700" b="0" dirty="0">
                <a:solidFill>
                  <a:srgbClr val="1E293B"/>
                </a:solidFill>
                <a:latin typeface="Calibri"/>
              </a:rPr>
              <a:t>4.7  Key message: Sense → Decide → Act, with explainable safety containment of ML.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eAge Innovations  |  Cognitive Radio Simulation  |  Defence Scientific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2A5B"/>
                </a:solidFill>
                <a:latin typeface="Calibri"/>
              </a:rPr>
              <a:t>5. Live Software UI — Modular Node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Figure 2 — Jammer · Receiver · Transmitter with Attached ML Policy</a:t>
            </a:r>
          </a:p>
        </p:txBody>
      </p:sp>
      <p:pic>
        <p:nvPicPr>
          <p:cNvPr id="5" name="Picture 4" descr="ui_modular_nod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11338560" cy="65108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eAge Innovations  |  Cognitive Radio Simulation  |  Defence Scientific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A5B"/>
                </a:solidFill>
                <a:latin typeface="Calibri"/>
              </a:rPr>
              <a:t>6. How to Read the Live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3611880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11880" cy="5029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6.1  JAMMER (Red)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1.  ECM threat profile control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2.  Jam power and emit / silence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3.  Quick presets: Spot / Multi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4.  Shows adversary activity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234440"/>
            <a:ext cx="3611880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1234440"/>
            <a:ext cx="3611880" cy="50292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298448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6.2  RECEIVER (Blue)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2024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1.  FREE / DEGRADED / BLOCKED counts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2.  Channel Spectrum State Map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3.  Cleanest vs worst impaired link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4.  This is interference capture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234440"/>
            <a:ext cx="3611880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234440"/>
            <a:ext cx="3611880" cy="5029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1298448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6.3  TRANSMITTER (Green)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192024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1.  Active carrier and TX power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2.  Hopping mode / hop pool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3.  Attached MLP recommender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4.  Proposal, confidence,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eAge Innovations  |  Cognitive Radio Simulation  |  Defence Scientific Briefing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A5B"/>
                </a:solidFill>
                <a:latin typeface="Calibri"/>
              </a:rPr>
              <a:t>7. Interference Capture &amp; Cognitive Dynamic FH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7.1  Capturing interference: Receiver measures jam power and SINR per channel.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7.2  Classification: FREE (≥10 dB), DEGRADED (3–10 dB), BLOCKED (&lt;3 dB).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7.3  Decisions use measured evidence only — no oracle jammer identity.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7.4  Dynamic FH: when hopping is enabled, adapt_hop_set rebuilds the hop pool.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7.5  Threatened (BLOCKED) hop members are evicted; clean usable channels are filled in.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7.6  Result: hopping follows cognitive decisions, not a blind fixed PRFH 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eAge Innovations  |  Cognitive Radio Simulation  |  Defence Scientific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A5B"/>
                </a:solidFill>
                <a:latin typeface="Calibri"/>
              </a:rPr>
              <a:t>8. Machine Learning in This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Advisory recommender inside a hybrid safety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8.1  Model: supervised MLP classifier (64 × 32), ReLU, Adam.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8.2  Input: 3N+2 feature vector (for N=8 → 26 features: SINR, state, jam, power, headroom).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8.3  Output: recommended channel or INCREASE_POWER, with Softmax confidence.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8.4  Modes: RULES · ML · HYBRID (preferred for defence review).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8.5  Safety Gate: veto BLOCKED proposals and out-of-headroom power increases.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8.6  Assurance message: ML advises; deterministic rules contain; every override is logged.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eAge Innovations  |  Cognitive Radio Simulation  |  Defence Scientific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A5B"/>
                </a:solidFill>
                <a:latin typeface="Calibri"/>
              </a:rPr>
              <a:t>9. Recommended Live Demo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9.1  Opening: state Sense–Decide–Act and the three proofs.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9.2  Walk the architecture diagram (Figure 1), then show the live UI (Figure 2).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9.3  Benign baseline — all FREE, status OK.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9.4  Spot jam on active carrier — show BLOCKED capture and HYBRID alternate channel.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9.5  Enable cognitive hopping — jam a hop-set member — show eviction and refill.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9.6  Barrage — show INCREASE_POWER within headroom.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9.7  Close with explainability Stages 2–3 and invite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eAge Innovations  |  Cognitive Radio Simulation  |  Defence Scientific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A5B"/>
                </a:solidFill>
                <a:latin typeface="Calibri"/>
              </a:rPr>
              <a:t>10. Preferred Speaking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10.1  Sense–Decide–Act closed loop under Electronic Attack.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10.2  Interference capture through Electronic Support sensing.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10.3  Hybrid safety-gated machine learning recommender.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10.4  Cognitive adaptive frequency hopping / dynamic hop-pool management.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10.5  Mission assurance with a human-readable audit trail.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10.6  Software decision twin prepared for later eADM / SDR integration.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10.7  Avoid claiming airborne certification or absolute jam-proof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eAge Innovations  |  Cognitive Radio Simulation  |  Defence Scientific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Closing Summary for the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1.  Agreed look-and-feel is presented in modular architecture and live UI.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2.  Interference is captured by ES sensing and channel-state classification.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3.  Decisions use hybrid ML under a deterministic safety gate.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4.  Frequency hopping updates dynamically from cognitive decisions.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5.  We request guidance on priorities for the next eADM laboratory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93C5FD"/>
                </a:solidFill>
                <a:latin typeface="Calibri"/>
              </a:rPr>
              <a:t>Thank you, Sir. We are ready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1061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vasu srinivas</cp:lastModifiedBy>
  <cp:revision>2</cp:revision>
  <dcterms:created xsi:type="dcterms:W3CDTF">2013-01-27T09:14:16Z</dcterms:created>
  <dcterms:modified xsi:type="dcterms:W3CDTF">2026-09-15T09:03:31Z</dcterms:modified>
  <cp:category/>
</cp:coreProperties>
</file>